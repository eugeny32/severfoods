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Презентация системы учёта питания СеверФудс. Производитель — ООО «Север». Показать: терминал на раздаче, серверную часть с отчётами, центральную панель для нескольких площадок.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Боли заказчика. Главная — не скорость, а невозможность доказать объём питания по организации.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же проговорить, что терминал — не «тонкий клиент»: он самодостаточен.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Звуковой сигнал отличается для каждого случая — оператор не обязан смотреть на экран.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Мультиплатформенность — не маркетинг: приложение собрано из общего кода, различия только там, где их требует платформа (правила Эвотор.Маркета, киоск на Windows, экранное закрепление на Android).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Карточки супер-администраторов обычным администраторам не показываются — защита от компрометации кода высшего уровня доступа.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Организационная часть 152-ФЗ — согласия, политика, назначение ответственного — на стороне заказчика; техническая часть по выгрузке и удалению данных по запросу субъекта прорабатывается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контакты ООО «Север»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everfoods/presentation/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85800"/>
            <a:ext cx="2377440" cy="9235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05740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СеверФудс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06324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A8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учёта питания сотрудников на производственных площадках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822960" y="4114800"/>
            <a:ext cx="5852160" cy="475488"/>
          </a:xfrm>
          <a:prstGeom prst="roundRect">
            <a:avLst>
              <a:gd name="adj" fmla="val 50000"/>
            </a:avLst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114800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Android · Эвотор · Веб-интерфейс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754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Мультиплатформенное решение: терминалы на точках, сервер и отчётность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 ПО — ООО «Север»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53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1.7.7 · сентябрь 2026</a:t>
            </a:r>
            <a:endParaRPr lang="en-US" sz="1200" dirty="0"/>
          </a:p>
        </p:txBody>
      </p:sp>
      <p:pic>
        <p:nvPicPr>
          <p:cNvPr id="10" name="Image 1" descr="/home/user/severfoods/android/market/screen-2-resul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17320"/>
            <a:ext cx="4114800" cy="2414016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pic>
        <p:nvPicPr>
          <p:cNvPr id="11" name="Image 2" descr="/home/user/severfoods/android/market/screen-5-log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977640"/>
            <a:ext cx="4114800" cy="2414016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учитывают питание сегодня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Бумажная ведомость на раздаче — и всё, что из неё следует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51760" cy="269748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1965960"/>
            <a:ext cx="512064" cy="51206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на раздаче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3081528"/>
            <a:ext cx="2148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ищет фамилию среди сотен. В пиковый час — десятки секунд на человека.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737360"/>
            <a:ext cx="2651760" cy="269748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9312" y="1965960"/>
            <a:ext cx="512064" cy="51206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931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Двойное питание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81528"/>
            <a:ext cx="2148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бумаге не проверить, получал ли человек этот обед. Тем более — на соседней точке.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737360"/>
            <a:ext cx="2651760" cy="269748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28232" y="1965960"/>
            <a:ext cx="512064" cy="51206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Споры с подрядчиками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3081528"/>
            <a:ext cx="2148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подрядчику выставляется по рукописным отметкам. Оспорить их нечем.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61120" y="1737360"/>
            <a:ext cx="2651760" cy="269748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1965960"/>
            <a:ext cx="512064" cy="51206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1715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17152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пересчёт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217152" y="3081528"/>
            <a:ext cx="2148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Сведение ведомостей в таблицу занимает дни и само по себе источник ошибок.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8920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заменяет ведомость картой с QR-кодом и терминалом на раздаче.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работает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одного прохода: от карты сотрудника до строки в отчёте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920240" cy="1737360"/>
          </a:xfrm>
          <a:prstGeom prst="roundRect">
            <a:avLst>
              <a:gd name="adj" fmla="val 6316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97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QR-пропуск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сотрудника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87752" y="2788920"/>
            <a:ext cx="347472" cy="274320"/>
          </a:xfrm>
          <a:prstGeom prst="rightArrow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35224" y="2057400"/>
            <a:ext cx="1920240" cy="1737360"/>
          </a:xfrm>
          <a:prstGeom prst="roundRect">
            <a:avLst>
              <a:gd name="adj" fmla="val 6316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026664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Терминал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2697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решение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28616" y="2788920"/>
            <a:ext cx="347472" cy="274320"/>
          </a:xfrm>
          <a:prstGeom prst="rightArrow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76088" y="2057400"/>
            <a:ext cx="1920240" cy="1737360"/>
          </a:xfrm>
          <a:prstGeom prst="roundRect">
            <a:avLst>
              <a:gd name="adj" fmla="val 6316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367528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база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367528" y="2697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устройстве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69480" y="2788920"/>
            <a:ext cx="347472" cy="274320"/>
          </a:xfrm>
          <a:prstGeom prst="rightArrow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16952" y="2057400"/>
            <a:ext cx="1920240" cy="1737360"/>
          </a:xfrm>
          <a:prstGeom prst="roundRect">
            <a:avLst>
              <a:gd name="adj" fmla="val 6316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08392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708392" y="2697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связи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10344" y="2788920"/>
            <a:ext cx="347472" cy="274320"/>
          </a:xfrm>
          <a:prstGeom prst="rightArrow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57816" y="2057400"/>
            <a:ext cx="1920240" cy="1737360"/>
          </a:xfrm>
          <a:prstGeom prst="roundRect">
            <a:avLst>
              <a:gd name="adj" fmla="val 6316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049256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0049256" y="2697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веб-интерфейс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160520"/>
            <a:ext cx="11002975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437083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Ключевое: шаги 1–3 не требуют интернета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091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сотрудников и записи о проходах лежат на самом устройстве. Связь нужна только для обмена с сервером: раздача идёт при выключенном интернете, а накопленные записи уходят сами, когда связь появится.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чего состоит система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части, которые ставятся независимо друг от друга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Точка раздачи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87168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Сканирование карт, локальная база и журнал за день. Мультиплатформенное — три варианта устройств: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88620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Смарт-терминал Эвотор 7.3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Планшет на Android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 на Windows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 площадки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487168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 и база данных: сотрудники, организации, точки, расписание, отчёты, печать карт.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88620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и MySQL на обычном хостинге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 браузере, без установки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Выгрузки в Excel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17830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управления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487168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панель для нескольких площадок: сводные отчёты по всем регионам сразу.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88620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площадок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Сводные и выборочные отчёты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за точками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5778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площадка может работать без центра управления. Центр нужен, когда площадок несколько.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на раздаче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 оператор и что делает система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02336" cy="402336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входит по своей карте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8483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Терминал знает, кто работает на раздаче, — это попадает в журнал.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402336" cy="402336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974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подносит карту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9923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Сканирование включено постоянно: наводить курсор и нажимать ничего не нужно.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402336" cy="402336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11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проверяет право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91363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ли человек в справочнике, активна ли карта, какой сейчас приём пищи, не получал ли он его уже.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572000"/>
            <a:ext cx="402336" cy="402336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262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Крупная карточка с решением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82803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ФИО, организация и результат видны с расстояния — оператор не вчитывается в мелкий текст.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486400"/>
            <a:ext cx="402336" cy="402336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440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сохраняется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74243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Сразу в локальную базу, затем на сервер. В журнале видно, что уже отправлено.</a:t>
            </a:r>
            <a:endParaRPr lang="en-US" sz="1150" dirty="0"/>
          </a:p>
        </p:txBody>
      </p:sp>
      <p:pic>
        <p:nvPicPr>
          <p:cNvPr id="24" name="Image 0" descr="/home/user/severfoods/android/market/screen-2-res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783080"/>
            <a:ext cx="4754880" cy="2788920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sp>
        <p:nvSpPr>
          <p:cNvPr id="25" name="Text 22"/>
          <p:cNvSpPr txBox="1"/>
          <p:nvPr/>
        </p:nvSpPr>
        <p:spPr>
          <a:xfrm>
            <a:off x="6812280" y="4709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 занимает секунду-две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81228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идёт по локальной базе. Когда есть связь, добавляется запрос к серверу — не получал ли человек этот приём пищи на другой точке.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ответа терминала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видно с расстояния — цветом, а не текстом</a:t>
            </a:r>
            <a:endParaRPr lang="en-US" sz="1500" dirty="0"/>
          </a:p>
        </p:txBody>
      </p:sp>
      <p:pic>
        <p:nvPicPr>
          <p:cNvPr id="4" name="Image 0" descr="/home/user/severfoods/android/market/screen-2-res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486400" cy="3218688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pic>
        <p:nvPicPr>
          <p:cNvPr id="5" name="Image 1" descr="/home/user/severfoods/android/market/screen-3-duplica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218688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94360" y="502920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850392" y="5321808"/>
            <a:ext cx="219456" cy="219456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43000" y="52486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Зелёный — проход засчитан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850392" y="56692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ФИО, организацию и какой приём пищи зафиксирован.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343400" y="502920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99432" y="5321808"/>
            <a:ext cx="219456" cy="21945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92040" y="52486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Жёлтый — повторный проход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56692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Этот приём пищи человек уже получил сегодня; показывается время.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92440" y="502920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48472" y="53218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41080" y="52486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отказ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8348472" y="56692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не найдена, просрочена или заблокирована.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486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Столовая не останавливается из-за связи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вахте и стройке интернет пропадает. Это не должно останавливать раздачу.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— на устройстве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16352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сотрудники, их организации, категории питания и статусы карт хранятся локально. Проверка идёт без обращения к сети.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240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 копятся и уходят сами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816352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 сохраняется мгновенно. Когда связь появляется, накопленное отправляется на сервер автоматически, без участия оператора.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92440" y="19659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240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что ещё не отправлено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816352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журнале у каждой записи есть признак: «синхронизировано» или «офлайн». Потерять проход нельзя.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663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оговорка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983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связи терминал знает только свои проходы. Повтор в пределах этой точки он отклонит, а совпадение с соседней точкой станет видно в отчёте после синхронизации. Там, где точки стоят рядом, это закрывается постоянным интернетом на раздаче.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двойного питания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приём пищи — один раз в день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пределах точки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41448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того же приёма пищи в тот же день отклоняется всегда, даже без интернета: терминал видит собственные записи.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93192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42062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Между точками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590288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связь есть, терминал спрашивает сервер: не проходил ли человек этот же приём пищи на другой точке. Это важно, когда залы раздачи стоят рядом.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7830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629400" y="2057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 при синхронизации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441448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отправка той же записи не создаёт вторую строку: сервер распознаёт её по идентификатору и блокировке.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393192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29400" y="42062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дублей в базе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4590288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инструмент находит записи, попавшие в базу разными путями, — например, скан и не удалённый ручной пропуск.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6108192"/>
            <a:ext cx="110029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при отказе видит время, когда человек уже проходил, — спорить не о чем.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Расписание столовой и типы питания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Терминал сам понимает, какой сейчас приём пищи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05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07:00 – 11:00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188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Обед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4505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 – 15:00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Ужин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4505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 – 21:00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61120" y="17830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8972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Ночное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189720" y="24505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23:00 – 06:00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29000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Расписание у каждой точки своё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83133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Окна задаются в веб-интерфейсе отдельно для каждой точки раздачи и дня недели. Пример выше — значения по умолчанию.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7548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Ночное питание — полноценный приём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515721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может переходить через полночь: смена «23:00–06:00» продолжается в следующий день, и проход в 00:30 относится к ней.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429000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Часовой пояс — по точке, а не по серверу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83133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площадок в разных регионах свои сутки. Граница дня считается по поясу точки, поэтому отчёты не «съезжают» на несколько часов.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47548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 вне расписания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515721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Такие записи не теряются: они помечаются как «вне графика», и их видно отдельным фильтром в отчёте.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Мультиплатформенность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не привязана к одному типу устройств и одному поставщику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11002975" cy="1024128"/>
          </a:xfrm>
          <a:prstGeom prst="roundRect">
            <a:avLst>
              <a:gd name="adj" fmla="val 10714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739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Смарт-терминал Эвотор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Evotor OS (Android)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79222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Готовое рабочее место: экран, корпус, USB-порты. Ставится и обновляется через Эвотор.Маркет. Целевая модель — Эвотор 7.3.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2779776"/>
            <a:ext cx="11002975" cy="1024128"/>
          </a:xfrm>
          <a:prstGeom prst="roundRect">
            <a:avLst>
              <a:gd name="adj" fmla="val 10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29077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Планшет на Android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3697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5.1 и новее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29260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Дёшево и мобильно. Экранное закрепление не даёт выйти из приложения, автозапуск после включения, обновление из самого приложения.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13632"/>
            <a:ext cx="11002975" cy="1024128"/>
          </a:xfrm>
          <a:prstGeom prst="roundRect">
            <a:avLst>
              <a:gd name="adj" fmla="val 10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416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 на Windows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708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 и 11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40599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точек с мини-ПК и монитором. Полноэкранный киоск, автообновление ночью, экранная клавиатура для терминалов без физической.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5047488"/>
            <a:ext cx="11002975" cy="1024128"/>
          </a:xfrm>
          <a:prstGeom prst="roundRect">
            <a:avLst>
              <a:gd name="adj" fmla="val 10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51755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5046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браузер: Windows, macOS, Linux, Android, iOS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519379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работает без установки чего-либо: справочники, расписание, отчёты и печать карт открываются с компьютера и с телефона.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6163056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один на все устройства: правило проверки прохода везде одинаково, оператор не переучивается, а на одной площадке устройства разных типов работают одновременно.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Смарт-терминал Эвотор 7.3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публикуется в Эвотор.Маркете — установка в один клик</a:t>
            </a:r>
            <a:endParaRPr lang="en-US" sz="1500" dirty="0"/>
          </a:p>
        </p:txBody>
      </p:sp>
      <p:pic>
        <p:nvPicPr>
          <p:cNvPr id="4" name="Image 0" descr="/home/user/severfoods/android/market/screen-1-sc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83080"/>
            <a:ext cx="5394960" cy="3163824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из магазина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08483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ставится на терминал из Эвотор.Маркета и обновляется оттуда же — без флешек и ручных APK.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834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Штатный сканер терминала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13639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от внешнего QR-сканера принимается через драйвер терминала. Сканер в режиме клавиатуры тоже поддержан.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8862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 остаётся доступной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8795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не захватывает экран: кассир в любой момент возвращается в меню Эвотора.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9377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Фискальная часть не задействована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523951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учёт прохода, а не продажа: чеки не печатаются, касса не затрагивается.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50749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 7″, 1024×600 · Evotor OS 4 · 5 USB-портов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Карты-пропуска сотрудников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QR-код выпускается в системе и живёт по своим правилам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 на бумаге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4505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печатается из веб-интерфейса поштучно или сразу пачкой на всю организацию. Формат — под бейдж.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47688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на телефон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647688" y="24505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Персональная карточка выгружается файлом и отправляется человеку в мессенджер: код показывают с экрана телефона.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9319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86968" y="41879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действия и блокировка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455371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карты есть статус: активна, просрочена, заблокирована. Потерянная карта отключается одним действием.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39319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47688" y="41879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не меняется при правке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455371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Исправление ФИО или организации не перевыпускает QR — карта на руках продолжает работать.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Серверная часть: веб-интерфейс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 браузере — устанавливать на компьютеры нечего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0392" y="1993392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542032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и поиск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и подразделения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и цена питания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и печать карт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9312" y="1993392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Точки и расписание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542032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раздачи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Окна приёмов пищи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Часовой пояс точки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Операторы точек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28232" y="1993392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2542032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проходов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сотрудникам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Сухпай и выездное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в 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0" y="178308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7152" y="1993392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2542032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Массовая проводка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пропуск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дублей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4709160"/>
            <a:ext cx="11002975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49194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для работы сервера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23951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Обычный хостинг с PHP и MySQL — отдельный сервер и системный администратор на площадке не требуются. Интерфейс открывается с компьютера и с телефона: адаптирован под мобильный экран.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Отчётность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по каждой организации и человеку · данные на снимке демонстрационные</a:t>
            </a:r>
            <a:endParaRPr lang="en-US" sz="1500" dirty="0"/>
          </a:p>
        </p:txBody>
      </p:sp>
      <p:pic>
        <p:nvPicPr>
          <p:cNvPr id="4" name="Image 0" descr="/home/user/severfoods/presentation/assets/web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37360"/>
            <a:ext cx="10607040" cy="3547872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795528" y="5440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сотруднику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573328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Завтраки, обеды, ужины, ночное, всего приёмов и дней в столовой.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584448" y="5440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организации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3584448" y="573328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по подрядчику и общий итог — основание для счёта.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373368" y="5440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373368" y="573328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Период, точка, тип питания, способ проводки, организации, ФИО.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62288" y="5440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в Excel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9162288" y="573328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теми же фильтрами, что и на экране.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Выгрузки и сухой паёк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Учитывается не только то, что съедено в зале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20391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в Excel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проходов и сводка по сотрудникам выгружаются файлом с теми же фильтрами, что на экране: что видно — то и выгружается.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8862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86968" y="41422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паёк и выездное питание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4526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Выдача сухпая и питание на выезде отмечаются отдельно и попадают в отчёты вместе с обычными проходами.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7830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647688" y="20391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Массовая проводка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смена питалась без терминала (авария, выезд), проходы проводятся списком — с отметкой о способе, чтобы это было видно в отчёте.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38862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47688" y="41422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пропуск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4526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карта не читается, оператор находит человека в списке и проводит вручную. Запись помечается как ручная.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запись хранит способ проводки: скан, ручной пропуск, массовая проводка или синхронизация с точки. В отчёте это отдельный фильтр.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 разграничение доступа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видит ровно то, что нужно для его работы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на раздаче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52928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Сканирование и ручной пропуск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своей точки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сотрудников для поиска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Ведёт площадку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852928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организации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и расписание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и выгрузки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и печать карт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17830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Супер-администратор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за систему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852928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площадки и настройки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Обслуживание базы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доступом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4406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карте сотрудника: отдельный пароль оператору не нужен и не теряется. Действия администраторов пишутся в журнал.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управления площадками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площадок несколько — сводная картина в одном окне</a:t>
            </a:r>
            <a:endParaRPr lang="en-US" sz="1500" dirty="0"/>
          </a:p>
        </p:txBody>
      </p:sp>
      <p:pic>
        <p:nvPicPr>
          <p:cNvPr id="4" name="Image 0" descr="/home/user/severfoods/presentation/assets/web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37360"/>
            <a:ext cx="7315200" cy="4572000"/>
          </a:xfrm>
          <a:prstGeom prst="rect">
            <a:avLst/>
          </a:prstGeom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183880" y="17830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площадки сразу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209397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Сотрудники, точки, питание за сегодня и версии приложений по каждому региону.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8346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Сводные отчёты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14553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по всем площадкам или по выбранным: галочками отмечаются нужные регионы.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388620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пропуск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19709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заводится одной картой сразу на всех площадках.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9377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площадка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4865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разворачивает регион по образцу действующего.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6035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на снимке экрана демонстрационные.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Наблюдение за точками и поддержка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Проблему видно раньше, чем о ней сообщат с площадки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на связи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4505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какие точки сейчас работают, когда последний раз выходили на связь и какая на них версия приложения.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47688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записей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647688" y="24505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точка накопила непереданные записи, это заметно до того, как расхождение попадёт в отчёт.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9319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86968" y="41879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Удалённые команды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455371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Синхронизация, обновление и снятие блокировки экрана запускаются с сервера — без выезда на площадку.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39319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47688" y="41879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455371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Windows-версия обновляется сама ночью, планшеты — из приложения, Эвотор — через Эвотор.Маркет.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486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Достоверность данных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становится основанием для счёта только тогда, когда цифрам можно верить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хранится в UTC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всегда одно время, местное считается при показе — по часовому поясу точки. Перевод часов и разные регионы не смещают отчёт.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33832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566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дублей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8862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отправка той же записи не создаёт вторую строку. Есть отдельный поиск дублей, попавших в базу разными путями.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489204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074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способ проводки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394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Скан, ручной пропуск, массовая проводка или синхронизация — в отчёте это отдельная колонка и фильтр.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187452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0574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377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 что менял в справочниках и настройках — записывается и доступно супер-администратору.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33832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3566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Приведение к расписанию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8862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сверяет исторические записи с расписанием точки и приводит тип питания в соответствие — с предпросмотром до сохранения.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489204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5074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под запретом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5394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Сотрудника с историей питания удалить нельзя: иначе отчёт за прошлый месяц перестал бы читаться.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Персональные данные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система хранит и как ограничен доступ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хранится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377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ФИО, организация, подразделение и должность, категория питания, QR-код карты и записи о проходах: дата, время, точка, тип питания.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8308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47688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в системе нет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647688" y="2377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Биометрии: фотографий, отпечатков и шаблонов лиц в системе нет вообще. Камера используется только для распознавания QR-кода на лету — изображение никуда не сохраняется.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41148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4315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по ролям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718304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Оператору не показываются дата рождения, цена питания и категория: для проведения человека они не нужны.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43400" y="41148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617720" y="4315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Карты высшего доступа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4718304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не может открыть и распечатать карточку супер-администратора.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92440" y="41148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66760" y="4315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остаются у заказчика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4718304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разворачивается на вашем хостинге. Данные никуда не передаются: внешних сервисов в контуре нет.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проходит внедрение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первой встречи до рабочей столовой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420624" cy="42062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334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на вашем хостинге, домен площадки, первичная настройка.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57400"/>
            <a:ext cx="420624" cy="42062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48072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данных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6334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загружаются списком из вашей таблицы: ФИО, организация, подразделение, должность.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2440" y="18288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057400"/>
            <a:ext cx="420624" cy="420624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6334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QR-кодов, печать карточек или рассылка файлов сотрудникам.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1148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343400"/>
            <a:ext cx="420624" cy="420624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43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99032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и расписание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9194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раздачи, окна приёмов пищи, часовой пояс, операторы.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1148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4343400"/>
            <a:ext cx="420624" cy="420624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17720" y="4343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Устройства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617720" y="49194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приложения на терминалы, подключение сканеров, проверка на месте.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92440" y="41148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4343400"/>
            <a:ext cx="420624" cy="420624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4343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97112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запуск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9194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Оператору хватает получаса: подносить карту и читать цвет ответа.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требования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экзотического — всё работает на типовом оборудовании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0392" y="2011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площадки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743200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 с PHP 8 и MySQL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и сертификат HTTPS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сервер не нужен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9312" y="2011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раздачи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743200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Эвотор 7.3, планшет Android или ПК с Windows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QR-сканер в USB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 желателен, но не обязателен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28232" y="2011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Рабочее место администратора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2743200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современный браузер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Подходит и телефон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ПО не требуется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0" y="178308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7152" y="2011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Карты сотрудников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2743200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 на обычном принтере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файл на телефоне сотрудника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Расходники — бумага и бейдж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5303520"/>
            <a:ext cx="11002975" cy="1005840"/>
          </a:xfrm>
          <a:prstGeom prst="roundRect">
            <a:avLst>
              <a:gd name="adj" fmla="val 10909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привязана к оборудованию одного производителя: точки раздачи на разных устройствах работают в одной площадке одновременно.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заказчик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60704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изменения, которые видны с первого месяца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664208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56816"/>
            <a:ext cx="475488" cy="475488"/>
          </a:xfrm>
          <a:prstGeom prst="ellipse">
            <a:avLst/>
          </a:prstGeom>
          <a:solidFill>
            <a:srgbClr val="00B49B"/>
          </a:solidFill>
          <a:ln w="12700">
            <a:solidFill>
              <a:srgbClr val="00B49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2880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подрядчику — из системы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176272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завтраков, обедов, ужинов и ночных приёмов получила каждая организация и каждый человек. Выгрузка в Excel, а не рукописная ведомость.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83464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127248"/>
            <a:ext cx="475488" cy="47548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99923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Раздача без очереди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34670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не ищет фамилию: карта, звук, цвет, следующий. Ошибку при вводе сделать негде.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005072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97680"/>
            <a:ext cx="475488" cy="47548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297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16966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вместо доверия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517136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Повторное питание отклоняется на месте, проходы вне графика видны отдельно, все действия администраторов записаны.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5175504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  <a:effectLst>
            <a:outerShdw sx="100000" sy="100000" kx="0" ky="0" algn="bl" rotWithShape="0" blurRad="152400" dist="25400" dir="54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468112"/>
            <a:ext cx="475488" cy="47548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468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34009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 выборе оборудования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5687568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Эвотор, планшет или компьютер — на выбор и одновременно на разных точках. Веб-интерфейс открывается в любом браузере, включая телефон.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everfoods/presentation/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2377440" cy="9235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2860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СеверФудс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1089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учёта питания сотрудников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949440" y="2194560"/>
            <a:ext cx="4572000" cy="2468880"/>
          </a:xfrm>
          <a:prstGeom prst="roundRect">
            <a:avLst>
              <a:gd name="adj" fmla="val 5185"/>
            </a:avLst>
          </a:prstGeom>
          <a:solidFill>
            <a:srgbClr val="0A2A52"/>
          </a:solidFill>
          <a:ln w="12700">
            <a:solidFill>
              <a:srgbClr val="17406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2423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B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 ПО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743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ООО «Север»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333756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Телефон: ‹укажите›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Почта: ‹укажите›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Сайт: ‹укажите›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системы 1.7.7 · сентябрь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ООО «Север»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СеверФудс — система учёта питания</dc:title>
  <dc:subject>PptxGenJS Presentation</dc:subject>
  <dc:creator>ООО «Север»</dc:creator>
  <cp:lastModifiedBy>ООО «Север»</cp:lastModifiedBy>
  <cp:revision>1</cp:revision>
  <dcterms:created xsi:type="dcterms:W3CDTF">2026-09-16T18:25:56Z</dcterms:created>
  <dcterms:modified xsi:type="dcterms:W3CDTF">2026-09-16T18:25:56Z</dcterms:modified>
</cp:coreProperties>
</file>